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C7B"/>
    <a:srgbClr val="59D2E1"/>
    <a:srgbClr val="F1A359"/>
    <a:srgbClr val="C69A91"/>
    <a:srgbClr val="6EC572"/>
    <a:srgbClr val="C9CA37"/>
    <a:srgbClr val="4E8FBB"/>
    <a:srgbClr val="BC8AE6"/>
    <a:srgbClr val="D1AF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9" d="100"/>
          <a:sy n="109" d="100"/>
        </p:scale>
        <p:origin x="144" y="15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2026/1/16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0C6EDCD-92CD-63A7-4376-93D3D70285AA}"/>
              </a:ext>
            </a:extLst>
          </p:cNvPr>
          <p:cNvPicPr>
            <a:picLocks noChangeAspect="1"/>
          </p:cNvPicPr>
          <p:nvPr/>
        </p:nvPicPr>
        <p:blipFill>
          <a:blip r:embed="rId2" cstate="print">
            <a:extLst>
              <a:ext uri="{28A0092B-C50C-407E-A947-70E740481C1C}">
                <a14:useLocalDpi xmlns:a14="http://schemas.microsoft.com/office/drawing/2010/main" val="0"/>
              </a:ext>
            </a:extLst>
          </a:blip>
          <a:srcRect l="16600" t="4615" r="14185" b="5256"/>
          <a:stretch>
            <a:fillRect/>
          </a:stretch>
        </p:blipFill>
        <p:spPr>
          <a:xfrm>
            <a:off x="2646485" y="728544"/>
            <a:ext cx="6899030" cy="5400912"/>
          </a:xfrm>
          <a:prstGeom prst="rect">
            <a:avLst/>
          </a:prstGeom>
        </p:spPr>
      </p:pic>
      <p:cxnSp>
        <p:nvCxnSpPr>
          <p:cNvPr id="16" name="直接连接符 15">
            <a:extLst>
              <a:ext uri="{FF2B5EF4-FFF2-40B4-BE49-F238E27FC236}">
                <a16:creationId xmlns:a16="http://schemas.microsoft.com/office/drawing/2014/main" id="{424AFD60-5F3C-D3B3-78BE-85D67975AAFD}"/>
              </a:ext>
            </a:extLst>
          </p:cNvPr>
          <p:cNvCxnSpPr>
            <a:cxnSpLocks/>
          </p:cNvCxnSpPr>
          <p:nvPr/>
        </p:nvCxnSpPr>
        <p:spPr>
          <a:xfrm flipH="1" flipV="1">
            <a:off x="3500438" y="879226"/>
            <a:ext cx="491270" cy="210296"/>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907BF06-E203-DC38-D39F-D65CC6500763}"/>
              </a:ext>
            </a:extLst>
          </p:cNvPr>
          <p:cNvCxnSpPr>
            <a:cxnSpLocks/>
          </p:cNvCxnSpPr>
          <p:nvPr/>
        </p:nvCxnSpPr>
        <p:spPr>
          <a:xfrm flipH="1" flipV="1">
            <a:off x="2945422" y="1992118"/>
            <a:ext cx="167054" cy="186764"/>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AC67702-79EB-22F5-7CB4-2C28DA19D547}"/>
              </a:ext>
            </a:extLst>
          </p:cNvPr>
          <p:cNvCxnSpPr>
            <a:cxnSpLocks/>
          </p:cNvCxnSpPr>
          <p:nvPr/>
        </p:nvCxnSpPr>
        <p:spPr>
          <a:xfrm flipH="1">
            <a:off x="3112476" y="4510454"/>
            <a:ext cx="272562" cy="245693"/>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DC74B40A-BF64-BE6A-5671-1D59AD339367}"/>
              </a:ext>
            </a:extLst>
          </p:cNvPr>
          <p:cNvCxnSpPr>
            <a:cxnSpLocks/>
          </p:cNvCxnSpPr>
          <p:nvPr/>
        </p:nvCxnSpPr>
        <p:spPr>
          <a:xfrm flipH="1">
            <a:off x="3991708" y="5574323"/>
            <a:ext cx="581026" cy="404446"/>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66566544-DED4-A46F-8450-3B5C0EDC4D9E}"/>
              </a:ext>
            </a:extLst>
          </p:cNvPr>
          <p:cNvCxnSpPr>
            <a:cxnSpLocks/>
          </p:cNvCxnSpPr>
          <p:nvPr/>
        </p:nvCxnSpPr>
        <p:spPr>
          <a:xfrm flipH="1">
            <a:off x="8502162" y="5978774"/>
            <a:ext cx="911469" cy="0"/>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521481BC-0557-00E2-FB43-A21F41175368}"/>
              </a:ext>
            </a:extLst>
          </p:cNvPr>
          <p:cNvCxnSpPr>
            <a:cxnSpLocks/>
          </p:cNvCxnSpPr>
          <p:nvPr/>
        </p:nvCxnSpPr>
        <p:spPr>
          <a:xfrm flipH="1" flipV="1">
            <a:off x="8437685" y="4816721"/>
            <a:ext cx="975946" cy="1467"/>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E6412C53-EDAD-F400-6BF1-3F253F1133C0}"/>
              </a:ext>
            </a:extLst>
          </p:cNvPr>
          <p:cNvCxnSpPr>
            <a:cxnSpLocks/>
          </p:cNvCxnSpPr>
          <p:nvPr/>
        </p:nvCxnSpPr>
        <p:spPr>
          <a:xfrm flipH="1" flipV="1">
            <a:off x="6488723" y="3738320"/>
            <a:ext cx="1948962" cy="1078401"/>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2DE3C3BD-2CE1-DCC9-41E2-A18F89F2E13D}"/>
              </a:ext>
            </a:extLst>
          </p:cNvPr>
          <p:cNvCxnSpPr>
            <a:cxnSpLocks/>
          </p:cNvCxnSpPr>
          <p:nvPr/>
        </p:nvCxnSpPr>
        <p:spPr>
          <a:xfrm flipH="1" flipV="1">
            <a:off x="7619267" y="5472484"/>
            <a:ext cx="882895" cy="502912"/>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5ABCD3C-CD73-1FCE-2272-4AD5B05D9946}"/>
              </a:ext>
            </a:extLst>
          </p:cNvPr>
          <p:cNvCxnSpPr>
            <a:cxnSpLocks/>
          </p:cNvCxnSpPr>
          <p:nvPr/>
        </p:nvCxnSpPr>
        <p:spPr>
          <a:xfrm flipH="1">
            <a:off x="8783515" y="2579079"/>
            <a:ext cx="630116" cy="0"/>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F00E933-15CA-7C5D-BF9B-6AED8AB1569A}"/>
              </a:ext>
            </a:extLst>
          </p:cNvPr>
          <p:cNvCxnSpPr>
            <a:cxnSpLocks/>
          </p:cNvCxnSpPr>
          <p:nvPr/>
        </p:nvCxnSpPr>
        <p:spPr>
          <a:xfrm flipH="1">
            <a:off x="8370277" y="2585196"/>
            <a:ext cx="413238" cy="357548"/>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A0DCB9D1-D1E8-5204-4D37-9116A07620C3}"/>
              </a:ext>
            </a:extLst>
          </p:cNvPr>
          <p:cNvCxnSpPr>
            <a:cxnSpLocks/>
          </p:cNvCxnSpPr>
          <p:nvPr/>
        </p:nvCxnSpPr>
        <p:spPr>
          <a:xfrm flipH="1">
            <a:off x="8502162" y="879231"/>
            <a:ext cx="911469" cy="0"/>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C13EB7D-F492-778C-17C2-D494DD804D5D}"/>
              </a:ext>
            </a:extLst>
          </p:cNvPr>
          <p:cNvCxnSpPr>
            <a:cxnSpLocks/>
          </p:cNvCxnSpPr>
          <p:nvPr/>
        </p:nvCxnSpPr>
        <p:spPr>
          <a:xfrm flipH="1">
            <a:off x="8124092" y="882604"/>
            <a:ext cx="378070" cy="398147"/>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C05F191-51AC-F6D3-4AE1-39335C02DB65}"/>
              </a:ext>
            </a:extLst>
          </p:cNvPr>
          <p:cNvCxnSpPr>
            <a:cxnSpLocks/>
          </p:cNvCxnSpPr>
          <p:nvPr/>
        </p:nvCxnSpPr>
        <p:spPr>
          <a:xfrm flipH="1" flipV="1">
            <a:off x="2778369" y="5978774"/>
            <a:ext cx="1213339" cy="10506"/>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80E1431-C47C-C608-411F-20C84ED880E7}"/>
              </a:ext>
            </a:extLst>
          </p:cNvPr>
          <p:cNvCxnSpPr>
            <a:cxnSpLocks/>
          </p:cNvCxnSpPr>
          <p:nvPr/>
        </p:nvCxnSpPr>
        <p:spPr>
          <a:xfrm flipH="1">
            <a:off x="2778369" y="879226"/>
            <a:ext cx="722069" cy="0"/>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7E09A8A-A686-7145-D4AA-3C0F41B6C31E}"/>
              </a:ext>
            </a:extLst>
          </p:cNvPr>
          <p:cNvCxnSpPr>
            <a:cxnSpLocks/>
          </p:cNvCxnSpPr>
          <p:nvPr/>
        </p:nvCxnSpPr>
        <p:spPr>
          <a:xfrm flipH="1" flipV="1">
            <a:off x="2778369" y="4756147"/>
            <a:ext cx="334107" cy="2893"/>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5596C0D9-5823-D8CD-18BF-7EE55BF6B4B3}"/>
              </a:ext>
            </a:extLst>
          </p:cNvPr>
          <p:cNvCxnSpPr>
            <a:cxnSpLocks/>
          </p:cNvCxnSpPr>
          <p:nvPr/>
        </p:nvCxnSpPr>
        <p:spPr>
          <a:xfrm flipH="1">
            <a:off x="2778369" y="1992118"/>
            <a:ext cx="167053" cy="0"/>
          </a:xfrm>
          <a:prstGeom prst="line">
            <a:avLst/>
          </a:prstGeom>
          <a:ln w="28575" cap="rnd">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6" name="矩形: 圆角 85">
            <a:extLst>
              <a:ext uri="{FF2B5EF4-FFF2-40B4-BE49-F238E27FC236}">
                <a16:creationId xmlns:a16="http://schemas.microsoft.com/office/drawing/2014/main" id="{C727108D-6FB9-9EFC-C911-D1B2380B00C9}"/>
              </a:ext>
            </a:extLst>
          </p:cNvPr>
          <p:cNvSpPr/>
          <p:nvPr/>
        </p:nvSpPr>
        <p:spPr>
          <a:xfrm>
            <a:off x="85744" y="105502"/>
            <a:ext cx="2681654" cy="1547446"/>
          </a:xfrm>
          <a:prstGeom prst="roundRect">
            <a:avLst>
              <a:gd name="adj" fmla="val 13589"/>
            </a:avLst>
          </a:prstGeom>
          <a:solidFill>
            <a:srgbClr val="D1AFEE">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84138" indent="-84138">
              <a:buFont typeface="Arial" panose="020B0604020202020204" pitchFamily="34" charset="0"/>
              <a:buChar char="•"/>
            </a:pPr>
            <a:endParaRPr lang="zh-CN" altLang="en-US" sz="900" dirty="0">
              <a:solidFill>
                <a:schemeClr val="tx1"/>
              </a:solidFill>
              <a:latin typeface="Arial" panose="020B0604020202020204" pitchFamily="34" charset="0"/>
              <a:cs typeface="Arial" panose="020B0604020202020204" pitchFamily="34" charset="0"/>
            </a:endParaRPr>
          </a:p>
        </p:txBody>
      </p:sp>
      <p:sp>
        <p:nvSpPr>
          <p:cNvPr id="87" name="矩形: 圆角 86">
            <a:extLst>
              <a:ext uri="{FF2B5EF4-FFF2-40B4-BE49-F238E27FC236}">
                <a16:creationId xmlns:a16="http://schemas.microsoft.com/office/drawing/2014/main" id="{74F67149-9098-87E0-E763-3F94445228B0}"/>
              </a:ext>
            </a:extLst>
          </p:cNvPr>
          <p:cNvSpPr/>
          <p:nvPr/>
        </p:nvSpPr>
        <p:spPr>
          <a:xfrm>
            <a:off x="85744" y="1817581"/>
            <a:ext cx="2681654" cy="1547446"/>
          </a:xfrm>
          <a:prstGeom prst="roundRect">
            <a:avLst>
              <a:gd name="adj" fmla="val 13589"/>
            </a:avLst>
          </a:prstGeom>
          <a:solidFill>
            <a:srgbClr val="4E8FBB">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8" name="矩形: 圆角 87">
            <a:extLst>
              <a:ext uri="{FF2B5EF4-FFF2-40B4-BE49-F238E27FC236}">
                <a16:creationId xmlns:a16="http://schemas.microsoft.com/office/drawing/2014/main" id="{C8E3326D-6F0F-E13E-0781-EB3660B6EA2D}"/>
              </a:ext>
            </a:extLst>
          </p:cNvPr>
          <p:cNvSpPr/>
          <p:nvPr/>
        </p:nvSpPr>
        <p:spPr>
          <a:xfrm>
            <a:off x="85744" y="3517426"/>
            <a:ext cx="2681654" cy="1547446"/>
          </a:xfrm>
          <a:prstGeom prst="roundRect">
            <a:avLst>
              <a:gd name="adj" fmla="val 13589"/>
            </a:avLst>
          </a:prstGeom>
          <a:solidFill>
            <a:srgbClr val="C9CA37">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9" name="矩形: 圆角 88">
            <a:extLst>
              <a:ext uri="{FF2B5EF4-FFF2-40B4-BE49-F238E27FC236}">
                <a16:creationId xmlns:a16="http://schemas.microsoft.com/office/drawing/2014/main" id="{CDA061AF-AEB9-6AF4-3790-0F44F9DCA789}"/>
              </a:ext>
            </a:extLst>
          </p:cNvPr>
          <p:cNvSpPr/>
          <p:nvPr/>
        </p:nvSpPr>
        <p:spPr>
          <a:xfrm>
            <a:off x="85744" y="5205046"/>
            <a:ext cx="2681654" cy="1547446"/>
          </a:xfrm>
          <a:prstGeom prst="roundRect">
            <a:avLst>
              <a:gd name="adj" fmla="val 13589"/>
            </a:avLst>
          </a:prstGeom>
          <a:solidFill>
            <a:srgbClr val="6EC572">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1" name="矩形: 圆角 90">
            <a:extLst>
              <a:ext uri="{FF2B5EF4-FFF2-40B4-BE49-F238E27FC236}">
                <a16:creationId xmlns:a16="http://schemas.microsoft.com/office/drawing/2014/main" id="{7043A96E-E6AA-F380-1E76-4BA81FB28756}"/>
              </a:ext>
            </a:extLst>
          </p:cNvPr>
          <p:cNvSpPr/>
          <p:nvPr/>
        </p:nvSpPr>
        <p:spPr>
          <a:xfrm>
            <a:off x="9448231" y="5205046"/>
            <a:ext cx="2681654" cy="1547446"/>
          </a:xfrm>
          <a:prstGeom prst="roundRect">
            <a:avLst>
              <a:gd name="adj" fmla="val 13589"/>
            </a:avLst>
          </a:prstGeom>
          <a:solidFill>
            <a:srgbClr val="C69A91">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3" name="矩形: 圆角 92">
            <a:extLst>
              <a:ext uri="{FF2B5EF4-FFF2-40B4-BE49-F238E27FC236}">
                <a16:creationId xmlns:a16="http://schemas.microsoft.com/office/drawing/2014/main" id="{836EF62E-274D-6B18-C0EF-6918F21B45FC}"/>
              </a:ext>
            </a:extLst>
          </p:cNvPr>
          <p:cNvSpPr/>
          <p:nvPr/>
        </p:nvSpPr>
        <p:spPr>
          <a:xfrm>
            <a:off x="9448231" y="3517426"/>
            <a:ext cx="2681654" cy="1547446"/>
          </a:xfrm>
          <a:prstGeom prst="roundRect">
            <a:avLst>
              <a:gd name="adj" fmla="val 13589"/>
            </a:avLst>
          </a:prstGeom>
          <a:solidFill>
            <a:srgbClr val="F1A359">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4" name="矩形: 圆角 93">
            <a:extLst>
              <a:ext uri="{FF2B5EF4-FFF2-40B4-BE49-F238E27FC236}">
                <a16:creationId xmlns:a16="http://schemas.microsoft.com/office/drawing/2014/main" id="{5A873F6C-2A8F-6170-4688-07D83863300A}"/>
              </a:ext>
            </a:extLst>
          </p:cNvPr>
          <p:cNvSpPr/>
          <p:nvPr/>
        </p:nvSpPr>
        <p:spPr>
          <a:xfrm>
            <a:off x="9448231" y="1817578"/>
            <a:ext cx="2681654" cy="1547446"/>
          </a:xfrm>
          <a:prstGeom prst="roundRect">
            <a:avLst>
              <a:gd name="adj" fmla="val 13589"/>
            </a:avLst>
          </a:prstGeom>
          <a:solidFill>
            <a:srgbClr val="59D2E1">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5" name="矩形: 圆角 94">
            <a:extLst>
              <a:ext uri="{FF2B5EF4-FFF2-40B4-BE49-F238E27FC236}">
                <a16:creationId xmlns:a16="http://schemas.microsoft.com/office/drawing/2014/main" id="{B0F9C4FD-E57D-5EDD-9DB9-7D70AD674DD7}"/>
              </a:ext>
            </a:extLst>
          </p:cNvPr>
          <p:cNvSpPr/>
          <p:nvPr/>
        </p:nvSpPr>
        <p:spPr>
          <a:xfrm>
            <a:off x="9448231" y="117730"/>
            <a:ext cx="2681654" cy="1547446"/>
          </a:xfrm>
          <a:prstGeom prst="roundRect">
            <a:avLst>
              <a:gd name="adj" fmla="val 13589"/>
            </a:avLst>
          </a:prstGeom>
          <a:solidFill>
            <a:srgbClr val="ED7C7B">
              <a:alpha val="41000"/>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7" name="文本框 96">
            <a:extLst>
              <a:ext uri="{FF2B5EF4-FFF2-40B4-BE49-F238E27FC236}">
                <a16:creationId xmlns:a16="http://schemas.microsoft.com/office/drawing/2014/main" id="{D2BB872D-A34D-F646-B65C-21B1C1084656}"/>
              </a:ext>
            </a:extLst>
          </p:cNvPr>
          <p:cNvSpPr txBox="1"/>
          <p:nvPr/>
        </p:nvSpPr>
        <p:spPr>
          <a:xfrm>
            <a:off x="85744" y="314120"/>
            <a:ext cx="2681654" cy="1338828"/>
          </a:xfrm>
          <a:prstGeom prst="rect">
            <a:avLst/>
          </a:prstGeom>
          <a:noFill/>
        </p:spPr>
        <p:txBody>
          <a:bodyPr wrap="square">
            <a:spAutoFit/>
          </a:bodyPr>
          <a:lstStyle/>
          <a:p>
            <a:pPr marL="84138" indent="-84138">
              <a:buFont typeface="Arial" panose="020B0604020202020204" pitchFamily="34" charset="0"/>
              <a:buChar char="•"/>
            </a:pPr>
            <a:r>
              <a:rPr lang="en-US" altLang="zh-CN" sz="900" b="1" dirty="0" err="1">
                <a:solidFill>
                  <a:schemeClr val="tx1"/>
                </a:solidFill>
                <a:latin typeface="Arial" panose="020B0604020202020204" pitchFamily="34" charset="0"/>
                <a:cs typeface="Arial" panose="020B0604020202020204" pitchFamily="34" charset="0"/>
              </a:rPr>
              <a:t>Benjamens</a:t>
            </a:r>
            <a:r>
              <a:rPr lang="en-US" altLang="zh-CN" sz="900" b="1" dirty="0">
                <a:solidFill>
                  <a:schemeClr val="tx1"/>
                </a:solidFill>
                <a:latin typeface="Arial" panose="020B0604020202020204" pitchFamily="34" charset="0"/>
                <a:cs typeface="Arial" panose="020B0604020202020204" pitchFamily="34" charset="0"/>
              </a:rPr>
              <a:t> (2020): </a:t>
            </a:r>
            <a:r>
              <a:rPr lang="en-US" altLang="zh-CN" sz="900" dirty="0">
                <a:solidFill>
                  <a:schemeClr val="tx1"/>
                </a:solidFill>
                <a:latin typeface="Arial" panose="020B0604020202020204" pitchFamily="34" charset="0"/>
                <a:cs typeface="Arial" panose="020B0604020202020204" pitchFamily="34" charset="0"/>
              </a:rPr>
              <a:t>The state of artificial intelligence-based FDA-approved medical devices and algorithms: an online database </a:t>
            </a:r>
            <a:r>
              <a:rPr lang="zh-CN" altLang="en-US" sz="900" dirty="0">
                <a:solidFill>
                  <a:schemeClr val="tx1"/>
                </a:solidFill>
                <a:latin typeface="Arial" panose="020B0604020202020204" pitchFamily="34" charset="0"/>
                <a:cs typeface="Arial" panose="020B0604020202020204" pitchFamily="34" charset="0"/>
              </a:rPr>
              <a:t>基于人工智能的美国</a:t>
            </a:r>
            <a:r>
              <a:rPr lang="en-US" altLang="zh-CN" sz="900" dirty="0">
                <a:solidFill>
                  <a:schemeClr val="tx1"/>
                </a:solidFill>
                <a:latin typeface="Arial" panose="020B0604020202020204" pitchFamily="34" charset="0"/>
                <a:cs typeface="Arial" panose="020B0604020202020204" pitchFamily="34" charset="0"/>
              </a:rPr>
              <a:t>FDA</a:t>
            </a:r>
            <a:r>
              <a:rPr lang="zh-CN" altLang="en-US" sz="900" dirty="0">
                <a:solidFill>
                  <a:schemeClr val="tx1"/>
                </a:solidFill>
                <a:latin typeface="Arial" panose="020B0604020202020204" pitchFamily="34" charset="0"/>
                <a:cs typeface="Arial" panose="020B0604020202020204" pitchFamily="34" charset="0"/>
              </a:rPr>
              <a:t>获批医疗器械与算法现状：一个在线数据库</a:t>
            </a:r>
            <a:endParaRPr lang="en-US" altLang="zh-CN" sz="9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Samore (2004): </a:t>
            </a:r>
            <a:r>
              <a:rPr lang="en-US" altLang="zh-CN" sz="900" dirty="0">
                <a:solidFill>
                  <a:schemeClr val="tx1"/>
                </a:solidFill>
                <a:latin typeface="Arial" panose="020B0604020202020204" pitchFamily="34" charset="0"/>
                <a:cs typeface="Arial" panose="020B0604020202020204" pitchFamily="34" charset="0"/>
              </a:rPr>
              <a:t>Surveillance of Medical Device–Related Hazards and Adverse Events in Hospitalized Patients </a:t>
            </a:r>
            <a:r>
              <a:rPr lang="zh-CN" altLang="en-US" sz="900" dirty="0">
                <a:solidFill>
                  <a:schemeClr val="tx1"/>
                </a:solidFill>
                <a:latin typeface="Arial" panose="020B0604020202020204" pitchFamily="34" charset="0"/>
                <a:cs typeface="Arial" panose="020B0604020202020204" pitchFamily="34" charset="0"/>
              </a:rPr>
              <a:t>住院患者医疗器械危害与不良事件监测研究</a:t>
            </a:r>
            <a:endParaRPr lang="en-US" altLang="zh-CN" sz="900" dirty="0">
              <a:solidFill>
                <a:schemeClr val="tx1"/>
              </a:solidFill>
              <a:latin typeface="Arial" panose="020B0604020202020204" pitchFamily="34" charset="0"/>
              <a:cs typeface="Arial" panose="020B0604020202020204" pitchFamily="34" charset="0"/>
            </a:endParaRPr>
          </a:p>
        </p:txBody>
      </p:sp>
      <p:sp>
        <p:nvSpPr>
          <p:cNvPr id="98" name="文本框 97">
            <a:extLst>
              <a:ext uri="{FF2B5EF4-FFF2-40B4-BE49-F238E27FC236}">
                <a16:creationId xmlns:a16="http://schemas.microsoft.com/office/drawing/2014/main" id="{D186AE36-D341-5620-E8B5-18DA223D44BD}"/>
              </a:ext>
            </a:extLst>
          </p:cNvPr>
          <p:cNvSpPr txBox="1"/>
          <p:nvPr/>
        </p:nvSpPr>
        <p:spPr>
          <a:xfrm>
            <a:off x="85744" y="2023714"/>
            <a:ext cx="2681654" cy="1338828"/>
          </a:xfrm>
          <a:prstGeom prst="rect">
            <a:avLst/>
          </a:prstGeom>
          <a:noFill/>
        </p:spPr>
        <p:txBody>
          <a:bodyPr wrap="square">
            <a:spAutoFit/>
          </a:bodyPr>
          <a:lstStyle/>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Sorenson (2014): </a:t>
            </a:r>
            <a:r>
              <a:rPr lang="en-US" altLang="zh-CN" sz="900" dirty="0">
                <a:solidFill>
                  <a:schemeClr val="tx1"/>
                </a:solidFill>
                <a:latin typeface="Arial" panose="020B0604020202020204" pitchFamily="34" charset="0"/>
                <a:cs typeface="Arial" panose="020B0604020202020204" pitchFamily="34" charset="0"/>
              </a:rPr>
              <a:t>Improving Medical Device Regulation: The United States and Europe in Perspective </a:t>
            </a:r>
            <a:r>
              <a:rPr lang="zh-CN" altLang="en-US" sz="900" dirty="0">
                <a:solidFill>
                  <a:schemeClr val="tx1"/>
                </a:solidFill>
                <a:latin typeface="Arial" panose="020B0604020202020204" pitchFamily="34" charset="0"/>
                <a:cs typeface="Arial" panose="020B0604020202020204" pitchFamily="34" charset="0"/>
              </a:rPr>
              <a:t>改进医疗器械监管：美国和欧洲的视角</a:t>
            </a:r>
            <a:endParaRPr lang="en-US" altLang="zh-CN" sz="9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Beckers (2021): </a:t>
            </a:r>
            <a:r>
              <a:rPr lang="en-US" altLang="zh-CN" sz="900" dirty="0">
                <a:solidFill>
                  <a:schemeClr val="tx1"/>
                </a:solidFill>
                <a:latin typeface="Arial" panose="020B0604020202020204" pitchFamily="34" charset="0"/>
                <a:cs typeface="Arial" panose="020B0604020202020204" pitchFamily="34" charset="0"/>
              </a:rPr>
              <a:t>The EU medical device regulation: Implications for artificial intelligence-based medical device software in medical physics </a:t>
            </a:r>
            <a:r>
              <a:rPr lang="zh-CN" altLang="en-US" sz="900" dirty="0">
                <a:solidFill>
                  <a:schemeClr val="tx1"/>
                </a:solidFill>
                <a:latin typeface="Arial" panose="020B0604020202020204" pitchFamily="34" charset="0"/>
                <a:cs typeface="Arial" panose="020B0604020202020204" pitchFamily="34" charset="0"/>
              </a:rPr>
              <a:t>欧盟医疗器械法规：对医学物理学中基于人工智能的医疗器械软件的影响</a:t>
            </a:r>
            <a:endParaRPr lang="en-US" altLang="zh-CN" sz="900" dirty="0">
              <a:solidFill>
                <a:schemeClr val="tx1"/>
              </a:solidFill>
              <a:latin typeface="Arial" panose="020B0604020202020204" pitchFamily="34" charset="0"/>
              <a:cs typeface="Arial" panose="020B0604020202020204" pitchFamily="34" charset="0"/>
            </a:endParaRPr>
          </a:p>
        </p:txBody>
      </p:sp>
      <p:sp>
        <p:nvSpPr>
          <p:cNvPr id="99" name="文本框 98">
            <a:extLst>
              <a:ext uri="{FF2B5EF4-FFF2-40B4-BE49-F238E27FC236}">
                <a16:creationId xmlns:a16="http://schemas.microsoft.com/office/drawing/2014/main" id="{C1CE7F82-4D75-3A8D-59B3-FE69141D3849}"/>
              </a:ext>
            </a:extLst>
          </p:cNvPr>
          <p:cNvSpPr txBox="1"/>
          <p:nvPr/>
        </p:nvSpPr>
        <p:spPr>
          <a:xfrm>
            <a:off x="85744" y="3808548"/>
            <a:ext cx="2681654" cy="1200329"/>
          </a:xfrm>
          <a:prstGeom prst="rect">
            <a:avLst/>
          </a:prstGeom>
          <a:noFill/>
        </p:spPr>
        <p:txBody>
          <a:bodyPr wrap="square">
            <a:spAutoFit/>
          </a:bodyPr>
          <a:lstStyle/>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Maisel (20</a:t>
            </a:r>
            <a:r>
              <a:rPr lang="en-US" altLang="zh-CN" sz="900" b="1" dirty="0">
                <a:latin typeface="Arial" panose="020B0604020202020204" pitchFamily="34" charset="0"/>
                <a:cs typeface="Arial" panose="020B0604020202020204" pitchFamily="34" charset="0"/>
              </a:rPr>
              <a:t>0</a:t>
            </a:r>
            <a:r>
              <a:rPr lang="en-US" altLang="zh-CN" sz="900" b="1" dirty="0">
                <a:solidFill>
                  <a:schemeClr val="tx1"/>
                </a:solidFill>
                <a:latin typeface="Arial" panose="020B0604020202020204" pitchFamily="34" charset="0"/>
                <a:cs typeface="Arial" panose="020B0604020202020204" pitchFamily="34" charset="0"/>
              </a:rPr>
              <a:t>4): </a:t>
            </a:r>
            <a:r>
              <a:rPr lang="en-US" altLang="zh-CN" sz="900" dirty="0">
                <a:solidFill>
                  <a:schemeClr val="tx1"/>
                </a:solidFill>
                <a:latin typeface="Arial" panose="020B0604020202020204" pitchFamily="34" charset="0"/>
                <a:cs typeface="Arial" panose="020B0604020202020204" pitchFamily="34" charset="0"/>
              </a:rPr>
              <a:t>Medical Device Regulation: An Introduction for the Practicing Physician </a:t>
            </a:r>
            <a:r>
              <a:rPr lang="zh-CN" altLang="en-US" sz="900" dirty="0">
                <a:solidFill>
                  <a:schemeClr val="tx1"/>
                </a:solidFill>
                <a:latin typeface="Arial" panose="020B0604020202020204" pitchFamily="34" charset="0"/>
                <a:cs typeface="Arial" panose="020B0604020202020204" pitchFamily="34" charset="0"/>
              </a:rPr>
              <a:t>医疗器械监管：执业医师入门</a:t>
            </a:r>
            <a:endParaRPr lang="en-US" altLang="zh-CN" sz="9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900" b="1" dirty="0" err="1">
                <a:solidFill>
                  <a:schemeClr val="tx1"/>
                </a:solidFill>
                <a:latin typeface="Arial" panose="020B0604020202020204" pitchFamily="34" charset="0"/>
                <a:cs typeface="Arial" panose="020B0604020202020204" pitchFamily="34" charset="0"/>
              </a:rPr>
              <a:t>Valleji-torres</a:t>
            </a:r>
            <a:r>
              <a:rPr lang="en-US" altLang="zh-CN" sz="900" b="1" dirty="0">
                <a:solidFill>
                  <a:schemeClr val="tx1"/>
                </a:solidFill>
                <a:latin typeface="Arial" panose="020B0604020202020204" pitchFamily="34" charset="0"/>
                <a:cs typeface="Arial" panose="020B0604020202020204" pitchFamily="34" charset="0"/>
              </a:rPr>
              <a:t> (2008): </a:t>
            </a:r>
            <a:r>
              <a:rPr lang="en-US" altLang="zh-CN" sz="900" dirty="0">
                <a:solidFill>
                  <a:schemeClr val="tx1"/>
                </a:solidFill>
                <a:latin typeface="Arial" panose="020B0604020202020204" pitchFamily="34" charset="0"/>
                <a:cs typeface="Arial" panose="020B0604020202020204" pitchFamily="34" charset="0"/>
              </a:rPr>
              <a:t>Integrating health economics modeling in the product development cycle of medical devices: A Bayesian approach</a:t>
            </a:r>
            <a:r>
              <a:rPr lang="zh-CN" altLang="en-US" sz="900" dirty="0">
                <a:solidFill>
                  <a:schemeClr val="tx1"/>
                </a:solidFill>
                <a:latin typeface="Arial" panose="020B0604020202020204" pitchFamily="34" charset="0"/>
                <a:cs typeface="Arial" panose="020B0604020202020204" pitchFamily="34" charset="0"/>
              </a:rPr>
              <a:t>在医疗器械产品开发周期中整合卫生经济学建模：一种贝叶斯方法</a:t>
            </a:r>
          </a:p>
        </p:txBody>
      </p:sp>
      <p:sp>
        <p:nvSpPr>
          <p:cNvPr id="100" name="文本框 99">
            <a:extLst>
              <a:ext uri="{FF2B5EF4-FFF2-40B4-BE49-F238E27FC236}">
                <a16:creationId xmlns:a16="http://schemas.microsoft.com/office/drawing/2014/main" id="{C9A66ADC-9EB1-7EE3-DC69-D7EDCD2D95B2}"/>
              </a:ext>
            </a:extLst>
          </p:cNvPr>
          <p:cNvSpPr txBox="1"/>
          <p:nvPr/>
        </p:nvSpPr>
        <p:spPr>
          <a:xfrm>
            <a:off x="85744" y="5599784"/>
            <a:ext cx="2681654" cy="1061829"/>
          </a:xfrm>
          <a:prstGeom prst="rect">
            <a:avLst/>
          </a:prstGeom>
          <a:noFill/>
        </p:spPr>
        <p:txBody>
          <a:bodyPr wrap="square">
            <a:spAutoFit/>
          </a:bodyPr>
          <a:lstStyle/>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Zhang (20</a:t>
            </a:r>
            <a:r>
              <a:rPr lang="en-US" altLang="zh-CN" sz="900" b="1" dirty="0">
                <a:latin typeface="Arial" panose="020B0604020202020204" pitchFamily="34" charset="0"/>
                <a:cs typeface="Arial" panose="020B0604020202020204" pitchFamily="34" charset="0"/>
              </a:rPr>
              <a:t>0</a:t>
            </a:r>
            <a:r>
              <a:rPr lang="en-US" altLang="zh-CN" sz="900" b="1" dirty="0">
                <a:solidFill>
                  <a:schemeClr val="tx1"/>
                </a:solidFill>
                <a:latin typeface="Arial" panose="020B0604020202020204" pitchFamily="34" charset="0"/>
                <a:cs typeface="Arial" panose="020B0604020202020204" pitchFamily="34" charset="0"/>
              </a:rPr>
              <a:t>3): </a:t>
            </a:r>
            <a:r>
              <a:rPr lang="en-US" altLang="zh-CN" sz="900" dirty="0">
                <a:solidFill>
                  <a:schemeClr val="tx1"/>
                </a:solidFill>
                <a:latin typeface="Arial" panose="020B0604020202020204" pitchFamily="34" charset="0"/>
                <a:cs typeface="Arial" panose="020B0604020202020204" pitchFamily="34" charset="0"/>
              </a:rPr>
              <a:t>Using usability heuristics to evaluate patient safety of medical devices</a:t>
            </a:r>
            <a:r>
              <a:rPr lang="zh-CN" altLang="en-US" sz="900" dirty="0">
                <a:solidFill>
                  <a:schemeClr val="tx1"/>
                </a:solidFill>
                <a:latin typeface="Arial" panose="020B0604020202020204" pitchFamily="34" charset="0"/>
                <a:cs typeface="Arial" panose="020B0604020202020204" pitchFamily="34" charset="0"/>
              </a:rPr>
              <a:t>运用可用性启发法评估医疗器械的患者安全性</a:t>
            </a:r>
            <a:endParaRPr lang="en-US" altLang="zh-CN" sz="9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Shah (2007): </a:t>
            </a:r>
            <a:r>
              <a:rPr lang="en-US" altLang="zh-CN" sz="900" dirty="0">
                <a:solidFill>
                  <a:schemeClr val="tx1"/>
                </a:solidFill>
                <a:latin typeface="Arial" panose="020B0604020202020204" pitchFamily="34" charset="0"/>
                <a:cs typeface="Arial" panose="020B0604020202020204" pitchFamily="34" charset="0"/>
              </a:rPr>
              <a:t>Benefits of and barriers to involving users in medical device technology development and evaluation</a:t>
            </a:r>
            <a:r>
              <a:rPr lang="zh-CN" altLang="en-US" sz="900" dirty="0">
                <a:solidFill>
                  <a:schemeClr val="tx1"/>
                </a:solidFill>
                <a:latin typeface="Arial" panose="020B0604020202020204" pitchFamily="34" charset="0"/>
                <a:cs typeface="Arial" panose="020B0604020202020204" pitchFamily="34" charset="0"/>
              </a:rPr>
              <a:t>用户参与医疗器械技术开发与评估的益处和障碍</a:t>
            </a:r>
            <a:endParaRPr lang="en-US" altLang="zh-CN" sz="900" dirty="0">
              <a:solidFill>
                <a:schemeClr val="tx1"/>
              </a:solidFill>
              <a:latin typeface="Arial" panose="020B0604020202020204" pitchFamily="34" charset="0"/>
              <a:cs typeface="Arial" panose="020B0604020202020204" pitchFamily="34" charset="0"/>
            </a:endParaRPr>
          </a:p>
        </p:txBody>
      </p:sp>
      <p:sp>
        <p:nvSpPr>
          <p:cNvPr id="101" name="文本框 100">
            <a:extLst>
              <a:ext uri="{FF2B5EF4-FFF2-40B4-BE49-F238E27FC236}">
                <a16:creationId xmlns:a16="http://schemas.microsoft.com/office/drawing/2014/main" id="{6A868408-E29D-204B-92D2-977BE5478BD1}"/>
              </a:ext>
            </a:extLst>
          </p:cNvPr>
          <p:cNvSpPr txBox="1"/>
          <p:nvPr/>
        </p:nvSpPr>
        <p:spPr>
          <a:xfrm>
            <a:off x="9397676" y="444976"/>
            <a:ext cx="2782765" cy="1200329"/>
          </a:xfrm>
          <a:prstGeom prst="rect">
            <a:avLst/>
          </a:prstGeom>
          <a:noFill/>
        </p:spPr>
        <p:txBody>
          <a:bodyPr wrap="square">
            <a:spAutoFit/>
          </a:bodyPr>
          <a:lstStyle/>
          <a:p>
            <a:pPr marL="84138" indent="-84138">
              <a:buFont typeface="Arial" panose="020B0604020202020204" pitchFamily="34" charset="0"/>
              <a:buChar char="•"/>
            </a:pPr>
            <a:r>
              <a:rPr lang="en-US" altLang="zh-CN" sz="800" b="1" dirty="0">
                <a:solidFill>
                  <a:schemeClr val="tx1"/>
                </a:solidFill>
                <a:latin typeface="Arial" panose="020B0604020202020204" pitchFamily="34" charset="0"/>
                <a:cs typeface="Arial" panose="020B0604020202020204" pitchFamily="34" charset="0"/>
              </a:rPr>
              <a:t>Van der </a:t>
            </a:r>
            <a:r>
              <a:rPr lang="en-US" altLang="zh-CN" sz="800" b="1" dirty="0" err="1">
                <a:solidFill>
                  <a:schemeClr val="tx1"/>
                </a:solidFill>
                <a:latin typeface="Arial" panose="020B0604020202020204" pitchFamily="34" charset="0"/>
                <a:cs typeface="Arial" panose="020B0604020202020204" pitchFamily="34" charset="0"/>
              </a:rPr>
              <a:t>togt</a:t>
            </a:r>
            <a:r>
              <a:rPr lang="en-US" altLang="zh-CN" sz="800" b="1" dirty="0">
                <a:solidFill>
                  <a:schemeClr val="tx1"/>
                </a:solidFill>
                <a:latin typeface="Arial" panose="020B0604020202020204" pitchFamily="34" charset="0"/>
                <a:cs typeface="Arial" panose="020B0604020202020204" pitchFamily="34" charset="0"/>
              </a:rPr>
              <a:t> (20</a:t>
            </a:r>
            <a:r>
              <a:rPr lang="en-US" altLang="zh-CN" sz="800" b="1" dirty="0">
                <a:latin typeface="Arial" panose="020B0604020202020204" pitchFamily="34" charset="0"/>
                <a:cs typeface="Arial" panose="020B0604020202020204" pitchFamily="34" charset="0"/>
              </a:rPr>
              <a:t>0</a:t>
            </a:r>
            <a:r>
              <a:rPr lang="en-US" altLang="zh-CN" sz="800" b="1" dirty="0">
                <a:solidFill>
                  <a:schemeClr val="tx1"/>
                </a:solidFill>
                <a:latin typeface="Arial" panose="020B0604020202020204" pitchFamily="34" charset="0"/>
                <a:cs typeface="Arial" panose="020B0604020202020204" pitchFamily="34" charset="0"/>
              </a:rPr>
              <a:t>3): </a:t>
            </a:r>
            <a:r>
              <a:rPr lang="en-US" altLang="zh-CN" sz="800" dirty="0">
                <a:solidFill>
                  <a:schemeClr val="tx1"/>
                </a:solidFill>
                <a:latin typeface="Arial" panose="020B0604020202020204" pitchFamily="34" charset="0"/>
                <a:cs typeface="Arial" panose="020B0604020202020204" pitchFamily="34" charset="0"/>
              </a:rPr>
              <a:t>Electromagnetic Interference From Radio Frequency Identification Inducing Potentially Hazardous Incidents in Critical Care Medical Equipment </a:t>
            </a:r>
            <a:r>
              <a:rPr lang="zh-CN" altLang="en-US" sz="800" dirty="0">
                <a:solidFill>
                  <a:schemeClr val="tx1"/>
                </a:solidFill>
                <a:latin typeface="Arial" panose="020B0604020202020204" pitchFamily="34" charset="0"/>
                <a:cs typeface="Arial" panose="020B0604020202020204" pitchFamily="34" charset="0"/>
              </a:rPr>
              <a:t>射频识别的电磁干扰在重症监护医疗设备中诱发潜在危险事件</a:t>
            </a:r>
            <a:endParaRPr lang="en-US" altLang="zh-CN" sz="8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800" b="1" dirty="0">
                <a:solidFill>
                  <a:schemeClr val="tx1"/>
                </a:solidFill>
                <a:latin typeface="Arial" panose="020B0604020202020204" pitchFamily="34" charset="0"/>
                <a:cs typeface="Arial" panose="020B0604020202020204" pitchFamily="34" charset="0"/>
              </a:rPr>
              <a:t>Lin (2014): </a:t>
            </a:r>
            <a:r>
              <a:rPr lang="en-US" altLang="zh-CN" sz="800" dirty="0">
                <a:solidFill>
                  <a:schemeClr val="tx1"/>
                </a:solidFill>
                <a:latin typeface="Arial" panose="020B0604020202020204" pitchFamily="34" charset="0"/>
                <a:cs typeface="Arial" panose="020B0604020202020204" pitchFamily="34" charset="0"/>
              </a:rPr>
              <a:t>Human reliability assessment for medical devices based on failure mode and effects analysis and fuzzy linguistic theory </a:t>
            </a:r>
            <a:r>
              <a:rPr lang="zh-CN" altLang="en-US" sz="800" dirty="0">
                <a:solidFill>
                  <a:schemeClr val="tx1"/>
                </a:solidFill>
                <a:latin typeface="Arial" panose="020B0604020202020204" pitchFamily="34" charset="0"/>
                <a:cs typeface="Arial" panose="020B0604020202020204" pitchFamily="34" charset="0"/>
              </a:rPr>
              <a:t>基于失效模式与影响分析及模糊语言理论的医疗器械人因可靠性评估</a:t>
            </a:r>
          </a:p>
        </p:txBody>
      </p:sp>
      <p:sp>
        <p:nvSpPr>
          <p:cNvPr id="102" name="文本框 101">
            <a:extLst>
              <a:ext uri="{FF2B5EF4-FFF2-40B4-BE49-F238E27FC236}">
                <a16:creationId xmlns:a16="http://schemas.microsoft.com/office/drawing/2014/main" id="{A7F4D8D1-10B3-3705-26A9-BFCF353801DF}"/>
              </a:ext>
            </a:extLst>
          </p:cNvPr>
          <p:cNvSpPr txBox="1"/>
          <p:nvPr/>
        </p:nvSpPr>
        <p:spPr>
          <a:xfrm>
            <a:off x="9438909" y="2136654"/>
            <a:ext cx="2700299" cy="1200329"/>
          </a:xfrm>
          <a:prstGeom prst="rect">
            <a:avLst/>
          </a:prstGeom>
          <a:noFill/>
        </p:spPr>
        <p:txBody>
          <a:bodyPr wrap="square">
            <a:spAutoFit/>
          </a:bodyPr>
          <a:lstStyle/>
          <a:p>
            <a:pPr marL="84138" indent="-84138">
              <a:buFont typeface="Arial" panose="020B0604020202020204" pitchFamily="34" charset="0"/>
              <a:buChar char="•"/>
            </a:pPr>
            <a:r>
              <a:rPr lang="en-US" altLang="zh-CN" sz="900" b="1" dirty="0">
                <a:latin typeface="Arial" panose="020B0604020202020204" pitchFamily="34" charset="0"/>
                <a:cs typeface="Arial" panose="020B0604020202020204" pitchFamily="34" charset="0"/>
              </a:rPr>
              <a:t>Liljegren </a:t>
            </a:r>
            <a:r>
              <a:rPr lang="en-US" altLang="zh-CN" sz="900" b="1" dirty="0">
                <a:solidFill>
                  <a:schemeClr val="tx1"/>
                </a:solidFill>
                <a:latin typeface="Arial" panose="020B0604020202020204" pitchFamily="34" charset="0"/>
                <a:cs typeface="Arial" panose="020B0604020202020204" pitchFamily="34" charset="0"/>
              </a:rPr>
              <a:t>(20</a:t>
            </a:r>
            <a:r>
              <a:rPr lang="en-US" altLang="zh-CN" sz="900" b="1" dirty="0">
                <a:latin typeface="Arial" panose="020B0604020202020204" pitchFamily="34" charset="0"/>
                <a:cs typeface="Arial" panose="020B0604020202020204" pitchFamily="34" charset="0"/>
              </a:rPr>
              <a:t>0</a:t>
            </a:r>
            <a:r>
              <a:rPr lang="en-US" altLang="zh-CN" sz="900" b="1" dirty="0">
                <a:solidFill>
                  <a:schemeClr val="tx1"/>
                </a:solidFill>
                <a:latin typeface="Arial" panose="020B0604020202020204" pitchFamily="34" charset="0"/>
                <a:cs typeface="Arial" panose="020B0604020202020204" pitchFamily="34" charset="0"/>
              </a:rPr>
              <a:t>6): </a:t>
            </a:r>
            <a:r>
              <a:rPr lang="en-US" altLang="zh-CN" sz="900" dirty="0">
                <a:solidFill>
                  <a:schemeClr val="tx1"/>
                </a:solidFill>
                <a:latin typeface="Arial" panose="020B0604020202020204" pitchFamily="34" charset="0"/>
                <a:cs typeface="Arial" panose="020B0604020202020204" pitchFamily="34" charset="0"/>
              </a:rPr>
              <a:t>Usability in a medical technology context assessment of methods for usability evaluation of medical equipment</a:t>
            </a:r>
            <a:r>
              <a:rPr lang="zh-CN" altLang="en-US" sz="900" dirty="0">
                <a:solidFill>
                  <a:schemeClr val="tx1"/>
                </a:solidFill>
                <a:latin typeface="Arial" panose="020B0604020202020204" pitchFamily="34" charset="0"/>
                <a:cs typeface="Arial" panose="020B0604020202020204" pitchFamily="34" charset="0"/>
              </a:rPr>
              <a:t>医疗技术背景下可用性：医疗器械可用性评估方法评述</a:t>
            </a:r>
            <a:endParaRPr lang="en-US" altLang="zh-CN" sz="9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Iadanza (2019a): </a:t>
            </a:r>
            <a:r>
              <a:rPr lang="en-US" altLang="zh-CN" sz="900" dirty="0">
                <a:solidFill>
                  <a:schemeClr val="tx1"/>
                </a:solidFill>
                <a:latin typeface="Arial" panose="020B0604020202020204" pitchFamily="34" charset="0"/>
                <a:cs typeface="Arial" panose="020B0604020202020204" pitchFamily="34" charset="0"/>
              </a:rPr>
              <a:t>Evidence-based medical equipment management: a convenient implementation</a:t>
            </a:r>
            <a:r>
              <a:rPr lang="zh-CN" altLang="en-US" sz="900" dirty="0">
                <a:solidFill>
                  <a:schemeClr val="tx1"/>
                </a:solidFill>
                <a:latin typeface="Arial" panose="020B0604020202020204" pitchFamily="34" charset="0"/>
                <a:cs typeface="Arial" panose="020B0604020202020204" pitchFamily="34" charset="0"/>
              </a:rPr>
              <a:t>循证医学设备管理：一种便捷的实施方法</a:t>
            </a:r>
            <a:endParaRPr lang="en-US" altLang="zh-CN" sz="900" dirty="0">
              <a:solidFill>
                <a:schemeClr val="tx1"/>
              </a:solidFill>
              <a:latin typeface="Arial" panose="020B0604020202020204" pitchFamily="34" charset="0"/>
              <a:cs typeface="Arial" panose="020B0604020202020204" pitchFamily="34" charset="0"/>
            </a:endParaRPr>
          </a:p>
        </p:txBody>
      </p:sp>
      <p:sp>
        <p:nvSpPr>
          <p:cNvPr id="103" name="文本框 102">
            <a:extLst>
              <a:ext uri="{FF2B5EF4-FFF2-40B4-BE49-F238E27FC236}">
                <a16:creationId xmlns:a16="http://schemas.microsoft.com/office/drawing/2014/main" id="{46D956E3-18FE-4D46-97A6-D25083A55A5E}"/>
              </a:ext>
            </a:extLst>
          </p:cNvPr>
          <p:cNvSpPr txBox="1"/>
          <p:nvPr/>
        </p:nvSpPr>
        <p:spPr>
          <a:xfrm>
            <a:off x="9397676" y="3740622"/>
            <a:ext cx="2782765" cy="1338828"/>
          </a:xfrm>
          <a:prstGeom prst="rect">
            <a:avLst/>
          </a:prstGeom>
          <a:noFill/>
        </p:spPr>
        <p:txBody>
          <a:bodyPr wrap="square">
            <a:spAutoFit/>
          </a:bodyPr>
          <a:lstStyle/>
          <a:p>
            <a:pPr marL="84138" indent="-84138">
              <a:buFont typeface="Arial" panose="020B0604020202020204" pitchFamily="34" charset="0"/>
              <a:buChar char="•"/>
            </a:pPr>
            <a:r>
              <a:rPr lang="en-US" altLang="zh-CN" sz="900" b="1" dirty="0">
                <a:latin typeface="Arial" panose="020B0604020202020204" pitchFamily="34" charset="0"/>
                <a:cs typeface="Arial" panose="020B0604020202020204" pitchFamily="34" charset="0"/>
              </a:rPr>
              <a:t>Sherman </a:t>
            </a:r>
            <a:r>
              <a:rPr lang="en-US" altLang="zh-CN" sz="900" b="1" dirty="0">
                <a:solidFill>
                  <a:schemeClr val="tx1"/>
                </a:solidFill>
                <a:latin typeface="Arial" panose="020B0604020202020204" pitchFamily="34" charset="0"/>
                <a:cs typeface="Arial" panose="020B0604020202020204" pitchFamily="34" charset="0"/>
              </a:rPr>
              <a:t>(20</a:t>
            </a:r>
            <a:r>
              <a:rPr lang="en-US" altLang="zh-CN" sz="900" b="1" dirty="0">
                <a:latin typeface="Arial" panose="020B0604020202020204" pitchFamily="34" charset="0"/>
                <a:cs typeface="Arial" panose="020B0604020202020204" pitchFamily="34" charset="0"/>
              </a:rPr>
              <a:t>18</a:t>
            </a:r>
            <a:r>
              <a:rPr lang="en-US" altLang="zh-CN" sz="900" b="1" dirty="0">
                <a:solidFill>
                  <a:schemeClr val="tx1"/>
                </a:solidFill>
                <a:latin typeface="Arial" panose="020B0604020202020204" pitchFamily="34" charset="0"/>
                <a:cs typeface="Arial" panose="020B0604020202020204" pitchFamily="34" charset="0"/>
              </a:rPr>
              <a:t>): </a:t>
            </a:r>
            <a:r>
              <a:rPr lang="en-US" altLang="zh-CN" sz="900" dirty="0">
                <a:solidFill>
                  <a:schemeClr val="tx1"/>
                </a:solidFill>
                <a:latin typeface="Arial" panose="020B0604020202020204" pitchFamily="34" charset="0"/>
                <a:cs typeface="Arial" panose="020B0604020202020204" pitchFamily="34" charset="0"/>
              </a:rPr>
              <a:t>Life Cycle Assessment and Costing Methods for Device Procurement: Comparing Reusable and Single-Use Disposable Laryngoscopes </a:t>
            </a:r>
            <a:r>
              <a:rPr lang="zh-CN" altLang="en-US" sz="900" dirty="0">
                <a:solidFill>
                  <a:schemeClr val="tx1"/>
                </a:solidFill>
                <a:latin typeface="Arial" panose="020B0604020202020204" pitchFamily="34" charset="0"/>
                <a:cs typeface="Arial" panose="020B0604020202020204" pitchFamily="34" charset="0"/>
              </a:rPr>
              <a:t>设备采购的生命周期评估与成本核算方法：可重复使用与一次性喉镜的比较</a:t>
            </a:r>
            <a:endParaRPr lang="en-US" altLang="zh-CN" sz="9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Macneil (2020): </a:t>
            </a:r>
            <a:r>
              <a:rPr lang="en-US" altLang="zh-CN" sz="900" dirty="0">
                <a:solidFill>
                  <a:schemeClr val="tx1"/>
                </a:solidFill>
                <a:latin typeface="Arial" panose="020B0604020202020204" pitchFamily="34" charset="0"/>
                <a:cs typeface="Arial" panose="020B0604020202020204" pitchFamily="34" charset="0"/>
              </a:rPr>
              <a:t>Transforming The Medical Device Industry: Road Map To A Circular Economy </a:t>
            </a:r>
            <a:r>
              <a:rPr lang="zh-CN" altLang="en-US" sz="900" dirty="0">
                <a:solidFill>
                  <a:schemeClr val="tx1"/>
                </a:solidFill>
                <a:latin typeface="Arial" panose="020B0604020202020204" pitchFamily="34" charset="0"/>
                <a:cs typeface="Arial" panose="020B0604020202020204" pitchFamily="34" charset="0"/>
              </a:rPr>
              <a:t>转型医疗设备产业：通向循环经济的路线图</a:t>
            </a:r>
            <a:endParaRPr lang="en-US" altLang="zh-CN" sz="900" dirty="0">
              <a:solidFill>
                <a:schemeClr val="tx1"/>
              </a:solidFill>
              <a:latin typeface="Arial" panose="020B0604020202020204" pitchFamily="34" charset="0"/>
              <a:cs typeface="Arial" panose="020B0604020202020204" pitchFamily="34" charset="0"/>
            </a:endParaRPr>
          </a:p>
        </p:txBody>
      </p:sp>
      <p:sp>
        <p:nvSpPr>
          <p:cNvPr id="104" name="文本框 103">
            <a:extLst>
              <a:ext uri="{FF2B5EF4-FFF2-40B4-BE49-F238E27FC236}">
                <a16:creationId xmlns:a16="http://schemas.microsoft.com/office/drawing/2014/main" id="{C9993A1E-2D7D-8554-8082-CB01DE882D96}"/>
              </a:ext>
            </a:extLst>
          </p:cNvPr>
          <p:cNvSpPr txBox="1"/>
          <p:nvPr/>
        </p:nvSpPr>
        <p:spPr>
          <a:xfrm>
            <a:off x="9418519" y="5496970"/>
            <a:ext cx="2741079" cy="1200329"/>
          </a:xfrm>
          <a:prstGeom prst="rect">
            <a:avLst/>
          </a:prstGeom>
          <a:noFill/>
        </p:spPr>
        <p:txBody>
          <a:bodyPr wrap="square">
            <a:spAutoFit/>
          </a:bodyPr>
          <a:lstStyle/>
          <a:p>
            <a:pPr marL="84138" indent="-84138">
              <a:buFont typeface="Arial" panose="020B0604020202020204" pitchFamily="34" charset="0"/>
              <a:buChar char="•"/>
            </a:pPr>
            <a:r>
              <a:rPr lang="en-US" altLang="zh-CN" sz="900" b="1" dirty="0" err="1">
                <a:latin typeface="Arial" panose="020B0604020202020204" pitchFamily="34" charset="0"/>
                <a:cs typeface="Arial" panose="020B0604020202020204" pitchFamily="34" charset="0"/>
              </a:rPr>
              <a:t>Khanmohammadi</a:t>
            </a:r>
            <a:r>
              <a:rPr lang="en-US" altLang="zh-CN" sz="900" b="1" dirty="0">
                <a:latin typeface="Arial" panose="020B0604020202020204" pitchFamily="34" charset="0"/>
                <a:cs typeface="Arial" panose="020B0604020202020204" pitchFamily="34" charset="0"/>
              </a:rPr>
              <a:t> </a:t>
            </a:r>
            <a:r>
              <a:rPr lang="en-US" altLang="zh-CN" sz="900" b="1" dirty="0">
                <a:solidFill>
                  <a:schemeClr val="tx1"/>
                </a:solidFill>
                <a:latin typeface="Arial" panose="020B0604020202020204" pitchFamily="34" charset="0"/>
                <a:cs typeface="Arial" panose="020B0604020202020204" pitchFamily="34" charset="0"/>
              </a:rPr>
              <a:t>(20</a:t>
            </a:r>
            <a:r>
              <a:rPr lang="en-US" altLang="zh-CN" sz="900" b="1" dirty="0">
                <a:latin typeface="Arial" panose="020B0604020202020204" pitchFamily="34" charset="0"/>
                <a:cs typeface="Arial" panose="020B0604020202020204" pitchFamily="34" charset="0"/>
              </a:rPr>
              <a:t>18</a:t>
            </a:r>
            <a:r>
              <a:rPr lang="en-US" altLang="zh-CN" sz="900" b="1" dirty="0">
                <a:solidFill>
                  <a:schemeClr val="tx1"/>
                </a:solidFill>
                <a:latin typeface="Arial" panose="020B0604020202020204" pitchFamily="34" charset="0"/>
                <a:cs typeface="Arial" panose="020B0604020202020204" pitchFamily="34" charset="0"/>
              </a:rPr>
              <a:t>): </a:t>
            </a:r>
            <a:r>
              <a:rPr lang="en-US" altLang="zh-CN" sz="900" dirty="0">
                <a:solidFill>
                  <a:schemeClr val="tx1"/>
                </a:solidFill>
                <a:latin typeface="Arial" panose="020B0604020202020204" pitchFamily="34" charset="0"/>
                <a:cs typeface="Arial" panose="020B0604020202020204" pitchFamily="34" charset="0"/>
              </a:rPr>
              <a:t>A system dynamics approach to the seismic resilience enhancement of hospitals </a:t>
            </a:r>
            <a:r>
              <a:rPr lang="zh-CN" altLang="en-US" sz="900" dirty="0">
                <a:solidFill>
                  <a:schemeClr val="tx1"/>
                </a:solidFill>
                <a:latin typeface="Arial" panose="020B0604020202020204" pitchFamily="34" charset="0"/>
                <a:cs typeface="Arial" panose="020B0604020202020204" pitchFamily="34" charset="0"/>
              </a:rPr>
              <a:t>增强医院抗震韧性的系统动力学方法</a:t>
            </a:r>
            <a:endParaRPr lang="en-US" altLang="zh-CN" sz="900" dirty="0">
              <a:solidFill>
                <a:schemeClr val="tx1"/>
              </a:solidFill>
              <a:latin typeface="Arial" panose="020B0604020202020204" pitchFamily="34" charset="0"/>
              <a:cs typeface="Arial" panose="020B0604020202020204" pitchFamily="34" charset="0"/>
            </a:endParaRPr>
          </a:p>
          <a:p>
            <a:pPr marL="84138" indent="-84138">
              <a:buFont typeface="Arial" panose="020B0604020202020204" pitchFamily="34" charset="0"/>
              <a:buChar char="•"/>
            </a:pPr>
            <a:r>
              <a:rPr lang="en-US" altLang="zh-CN" sz="900" b="1" dirty="0">
                <a:solidFill>
                  <a:schemeClr val="tx1"/>
                </a:solidFill>
                <a:latin typeface="Arial" panose="020B0604020202020204" pitchFamily="34" charset="0"/>
                <a:cs typeface="Arial" panose="020B0604020202020204" pitchFamily="34" charset="0"/>
              </a:rPr>
              <a:t>Larson (2021): </a:t>
            </a:r>
            <a:r>
              <a:rPr lang="en-US" altLang="zh-CN" sz="900" dirty="0">
                <a:solidFill>
                  <a:schemeClr val="tx1"/>
                </a:solidFill>
                <a:latin typeface="Arial" panose="020B0604020202020204" pitchFamily="34" charset="0"/>
                <a:cs typeface="Arial" panose="020B0604020202020204" pitchFamily="34" charset="0"/>
              </a:rPr>
              <a:t>Regulatory frameworks for development and evaluation of artificial intelligence-based diagnostic imaging algorithms: summary and recommendations </a:t>
            </a:r>
            <a:r>
              <a:rPr lang="zh-CN" altLang="en-US" sz="900" dirty="0">
                <a:solidFill>
                  <a:schemeClr val="tx1"/>
                </a:solidFill>
                <a:latin typeface="Arial" panose="020B0604020202020204" pitchFamily="34" charset="0"/>
                <a:cs typeface="Arial" panose="020B0604020202020204" pitchFamily="34" charset="0"/>
              </a:rPr>
              <a:t>基于人工智能的诊断成像算法开发与评估的监管框架</a:t>
            </a:r>
            <a:endParaRPr lang="en-US" altLang="zh-CN" sz="900" dirty="0">
              <a:solidFill>
                <a:schemeClr val="tx1"/>
              </a:solidFill>
              <a:latin typeface="Arial" panose="020B0604020202020204" pitchFamily="34" charset="0"/>
              <a:cs typeface="Arial" panose="020B0604020202020204" pitchFamily="34" charset="0"/>
            </a:endParaRPr>
          </a:p>
        </p:txBody>
      </p:sp>
      <p:sp>
        <p:nvSpPr>
          <p:cNvPr id="105" name="文本框 104">
            <a:extLst>
              <a:ext uri="{FF2B5EF4-FFF2-40B4-BE49-F238E27FC236}">
                <a16:creationId xmlns:a16="http://schemas.microsoft.com/office/drawing/2014/main" id="{85DC1528-277A-808D-657E-1B0B15404178}"/>
              </a:ext>
            </a:extLst>
          </p:cNvPr>
          <p:cNvSpPr txBox="1"/>
          <p:nvPr/>
        </p:nvSpPr>
        <p:spPr>
          <a:xfrm>
            <a:off x="430823" y="117730"/>
            <a:ext cx="1991496"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#1 </a:t>
            </a:r>
            <a:r>
              <a:rPr lang="zh-CN" altLang="en-US" sz="1200" b="1" dirty="0">
                <a:effectLst>
                  <a:outerShdw blurRad="38100" dist="38100" dir="2700000" algn="tl">
                    <a:srgbClr val="000000">
                      <a:alpha val="43137"/>
                    </a:srgbClr>
                  </a:outerShdw>
                </a:effectLst>
              </a:rPr>
              <a:t>宏观现状与监管</a:t>
            </a:r>
          </a:p>
        </p:txBody>
      </p:sp>
      <p:sp>
        <p:nvSpPr>
          <p:cNvPr id="106" name="文本框 105">
            <a:extLst>
              <a:ext uri="{FF2B5EF4-FFF2-40B4-BE49-F238E27FC236}">
                <a16:creationId xmlns:a16="http://schemas.microsoft.com/office/drawing/2014/main" id="{0BAD6086-5B39-589F-1413-7DD9F2A8CCB0}"/>
              </a:ext>
            </a:extLst>
          </p:cNvPr>
          <p:cNvSpPr txBox="1"/>
          <p:nvPr/>
        </p:nvSpPr>
        <p:spPr>
          <a:xfrm>
            <a:off x="373711" y="1813545"/>
            <a:ext cx="2105720"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#2</a:t>
            </a:r>
            <a:r>
              <a:rPr lang="zh-CN" altLang="en-US" sz="1200" b="1" dirty="0">
                <a:effectLst>
                  <a:outerShdw blurRad="38100" dist="38100" dir="2700000" algn="tl">
                    <a:srgbClr val="000000">
                      <a:alpha val="43137"/>
                    </a:srgbClr>
                  </a:outerShdw>
                </a:effectLst>
              </a:rPr>
              <a:t> 法规与政策比较</a:t>
            </a:r>
          </a:p>
        </p:txBody>
      </p:sp>
      <p:sp>
        <p:nvSpPr>
          <p:cNvPr id="107" name="文本框 106">
            <a:extLst>
              <a:ext uri="{FF2B5EF4-FFF2-40B4-BE49-F238E27FC236}">
                <a16:creationId xmlns:a16="http://schemas.microsoft.com/office/drawing/2014/main" id="{E5ED8377-7FBA-AA85-5C3A-1552781C21C1}"/>
              </a:ext>
            </a:extLst>
          </p:cNvPr>
          <p:cNvSpPr txBox="1"/>
          <p:nvPr/>
        </p:nvSpPr>
        <p:spPr>
          <a:xfrm>
            <a:off x="551736" y="3567223"/>
            <a:ext cx="1749672"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#3 </a:t>
            </a:r>
            <a:r>
              <a:rPr lang="zh-CN" altLang="en-US" sz="1200" b="1" dirty="0">
                <a:effectLst>
                  <a:outerShdw blurRad="38100" dist="38100" dir="2700000" algn="tl">
                    <a:srgbClr val="000000">
                      <a:alpha val="43137"/>
                    </a:srgbClr>
                  </a:outerShdw>
                </a:effectLst>
              </a:rPr>
              <a:t>卫生经济学</a:t>
            </a:r>
          </a:p>
        </p:txBody>
      </p:sp>
      <p:sp>
        <p:nvSpPr>
          <p:cNvPr id="108" name="文本框 107">
            <a:extLst>
              <a:ext uri="{FF2B5EF4-FFF2-40B4-BE49-F238E27FC236}">
                <a16:creationId xmlns:a16="http://schemas.microsoft.com/office/drawing/2014/main" id="{0B3DE414-4F62-CB69-9CC9-D65C54B788D5}"/>
              </a:ext>
            </a:extLst>
          </p:cNvPr>
          <p:cNvSpPr txBox="1"/>
          <p:nvPr/>
        </p:nvSpPr>
        <p:spPr>
          <a:xfrm>
            <a:off x="551735" y="5281514"/>
            <a:ext cx="1749674"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#4 </a:t>
            </a:r>
            <a:r>
              <a:rPr lang="zh-CN" altLang="en-US" sz="1200" b="1" dirty="0">
                <a:effectLst>
                  <a:outerShdw blurRad="38100" dist="38100" dir="2700000" algn="tl">
                    <a:srgbClr val="000000">
                      <a:alpha val="43137"/>
                    </a:srgbClr>
                  </a:outerShdw>
                </a:effectLst>
              </a:rPr>
              <a:t>人因工程</a:t>
            </a:r>
          </a:p>
        </p:txBody>
      </p:sp>
      <p:sp>
        <p:nvSpPr>
          <p:cNvPr id="109" name="文本框 108">
            <a:extLst>
              <a:ext uri="{FF2B5EF4-FFF2-40B4-BE49-F238E27FC236}">
                <a16:creationId xmlns:a16="http://schemas.microsoft.com/office/drawing/2014/main" id="{BEB416B5-06DA-93F2-66DF-28658E4F48FD}"/>
              </a:ext>
            </a:extLst>
          </p:cNvPr>
          <p:cNvSpPr txBox="1"/>
          <p:nvPr/>
        </p:nvSpPr>
        <p:spPr>
          <a:xfrm>
            <a:off x="9734878" y="194879"/>
            <a:ext cx="2108360"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#5 </a:t>
            </a:r>
            <a:r>
              <a:rPr lang="zh-CN" altLang="en-US" sz="1200" b="1" dirty="0">
                <a:effectLst>
                  <a:outerShdw blurRad="38100" dist="38100" dir="2700000" algn="tl">
                    <a:srgbClr val="000000">
                      <a:alpha val="43137"/>
                    </a:srgbClr>
                  </a:outerShdw>
                </a:effectLst>
              </a:rPr>
              <a:t>技术风险管理</a:t>
            </a:r>
          </a:p>
        </p:txBody>
      </p:sp>
      <p:sp>
        <p:nvSpPr>
          <p:cNvPr id="110" name="文本框 109">
            <a:extLst>
              <a:ext uri="{FF2B5EF4-FFF2-40B4-BE49-F238E27FC236}">
                <a16:creationId xmlns:a16="http://schemas.microsoft.com/office/drawing/2014/main" id="{D109C2CD-2F33-05B9-CADB-7727115C8FA9}"/>
              </a:ext>
            </a:extLst>
          </p:cNvPr>
          <p:cNvSpPr txBox="1"/>
          <p:nvPr/>
        </p:nvSpPr>
        <p:spPr>
          <a:xfrm>
            <a:off x="9928308" y="1859655"/>
            <a:ext cx="1721500"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#6</a:t>
            </a:r>
            <a:r>
              <a:rPr lang="zh-CN" altLang="en-US" sz="1200" b="1" dirty="0">
                <a:effectLst>
                  <a:outerShdw blurRad="38100" dist="38100" dir="2700000" algn="tl">
                    <a:srgbClr val="000000">
                      <a:alpha val="43137"/>
                    </a:srgbClr>
                  </a:outerShdw>
                </a:effectLst>
              </a:rPr>
              <a:t> 维护管理与评估</a:t>
            </a:r>
          </a:p>
        </p:txBody>
      </p:sp>
      <p:sp>
        <p:nvSpPr>
          <p:cNvPr id="111" name="文本框 110">
            <a:extLst>
              <a:ext uri="{FF2B5EF4-FFF2-40B4-BE49-F238E27FC236}">
                <a16:creationId xmlns:a16="http://schemas.microsoft.com/office/drawing/2014/main" id="{099C23AD-BA31-F781-A592-0AB557DFC7FC}"/>
              </a:ext>
            </a:extLst>
          </p:cNvPr>
          <p:cNvSpPr txBox="1"/>
          <p:nvPr/>
        </p:nvSpPr>
        <p:spPr>
          <a:xfrm>
            <a:off x="9831593" y="3537686"/>
            <a:ext cx="1914930"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#7 </a:t>
            </a:r>
            <a:r>
              <a:rPr lang="zh-CN" altLang="en-US" sz="1200" b="1" dirty="0">
                <a:effectLst>
                  <a:outerShdw blurRad="38100" dist="38100" dir="2700000" algn="tl">
                    <a:srgbClr val="000000">
                      <a:alpha val="43137"/>
                    </a:srgbClr>
                  </a:outerShdw>
                </a:effectLst>
              </a:rPr>
              <a:t>全生命周期与产业</a:t>
            </a:r>
          </a:p>
        </p:txBody>
      </p:sp>
      <p:sp>
        <p:nvSpPr>
          <p:cNvPr id="112" name="文本框 111">
            <a:extLst>
              <a:ext uri="{FF2B5EF4-FFF2-40B4-BE49-F238E27FC236}">
                <a16:creationId xmlns:a16="http://schemas.microsoft.com/office/drawing/2014/main" id="{E9E3BFF5-EDE5-2800-B1E7-28337585CBA9}"/>
              </a:ext>
            </a:extLst>
          </p:cNvPr>
          <p:cNvSpPr txBox="1"/>
          <p:nvPr/>
        </p:nvSpPr>
        <p:spPr>
          <a:xfrm>
            <a:off x="9937851" y="5252112"/>
            <a:ext cx="1702414" cy="276999"/>
          </a:xfrm>
          <a:prstGeom prst="rect">
            <a:avLst/>
          </a:prstGeom>
          <a:noFill/>
        </p:spPr>
        <p:txBody>
          <a:bodyPr wrap="square" rtlCol="0">
            <a:spAutoFit/>
          </a:bodyPr>
          <a:lstStyle/>
          <a:p>
            <a:pPr algn="ctr"/>
            <a:r>
              <a:rPr lang="en-US" altLang="zh-CN" sz="1200" b="1" dirty="0">
                <a:effectLst>
                  <a:outerShdw blurRad="38100" dist="38100" dir="2700000" algn="tl">
                    <a:srgbClr val="000000">
                      <a:alpha val="43137"/>
                    </a:srgbClr>
                  </a:outerShdw>
                </a:effectLst>
              </a:rPr>
              <a:t>#8 </a:t>
            </a:r>
            <a:r>
              <a:rPr lang="zh-CN" altLang="en-US" sz="1200" b="1" dirty="0">
                <a:effectLst>
                  <a:outerShdw blurRad="38100" dist="38100" dir="2700000" algn="tl">
                    <a:srgbClr val="000000">
                      <a:alpha val="43137"/>
                    </a:srgbClr>
                  </a:outerShdw>
                </a:effectLst>
              </a:rPr>
              <a:t>应急准备与监管</a:t>
            </a:r>
          </a:p>
        </p:txBody>
      </p:sp>
    </p:spTree>
    <p:extLst>
      <p:ext uri="{BB962C8B-B14F-4D97-AF65-F5344CB8AC3E}">
        <p14:creationId xmlns:p14="http://schemas.microsoft.com/office/powerpoint/2010/main" val="2511037873"/>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1118</TotalTime>
  <Words>523</Words>
  <Application>Microsoft Office PowerPoint</Application>
  <PresentationFormat>宽屏</PresentationFormat>
  <Paragraphs>24</Paragraphs>
  <Slides>1</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Arial</vt:lpstr>
      <vt:lpstr>Calibri</vt:lpstr>
      <vt:lpstr>WPS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Regan Li</dc:creator>
  <cp:lastModifiedBy>Regan Li</cp:lastModifiedBy>
  <cp:revision>6</cp:revision>
  <dcterms:created xsi:type="dcterms:W3CDTF">2023-08-09T12:44:00Z</dcterms:created>
  <dcterms:modified xsi:type="dcterms:W3CDTF">2026-01-16T09:17:17Z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